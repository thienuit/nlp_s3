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ACL 2025 · Long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2563EB"/>
                </a:solidFill>
                <a:latin typeface="Arial"/>
              </a:rPr>
              <a:t>S³ — Semantic Signal Separation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>
                <a:solidFill>
                  <a:srgbClr val="64748B"/>
                </a:solidFill>
                <a:latin typeface="Arial"/>
              </a:rPr>
              <a:t>Phân tích chủ đề của văn bản sử dụng thuật toán 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Arial"/>
              </a:rPr>
              <a:t>Làm sao tách được từng </a:t>
            </a:r>
            <a:r>
              <a:rPr sz="1600" b="1">
                <a:solidFill>
                  <a:srgbClr val="1E293B"/>
                </a:solidFill>
                <a:latin typeface="Arial"/>
              </a:rPr>
              <a:t>giọng nói</a:t>
            </a:r>
            <a:r>
              <a:rPr sz="1600" b="0">
                <a:solidFill>
                  <a:srgbClr val="1E293B"/>
                </a:solidFill>
                <a:latin typeface="Arial"/>
              </a:rPr>
              <a:t> trong một căn phòng ồn ào? — và điều đó liên quan gì đến việc tìm </a:t>
            </a:r>
            <a:r>
              <a:rPr sz="1600" b="1">
                <a:solidFill>
                  <a:srgbClr val="1E293B"/>
                </a:solidFill>
                <a:latin typeface="Arial"/>
              </a:rPr>
              <a:t>chủ đề</a:t>
            </a:r>
            <a:r>
              <a:rPr sz="1600" b="0">
                <a:solidFill>
                  <a:srgbClr val="1E293B"/>
                </a:solidFill>
                <a:latin typeface="Arial"/>
              </a:rPr>
              <a:t> trong văn bản?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Kardos, Kostkan, Enevoldsen, Vermillet, Nielbo, Rocca · Aarhus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FDBFE"/>
                </a:solidFill>
                <a:latin typeface="Arial"/>
              </a:rPr>
              <a:t>ACT 1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Tách tín hiệu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0"/>
            <a:ext cx="9418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E0F2FE"/>
                </a:solidFill>
                <a:latin typeface="Arial"/>
              </a:rPr>
              <a:t>Cocktail party → văn bản → ICA vs PCA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Bài toán "bữa tiệc cocktail"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Arial"/>
              </a:rPr>
              <a:t>Ba người nói cùng lúc; mỗi micro chỉ thu được một </a:t>
            </a:r>
            <a:r>
              <a:rPr sz="1600" b="1">
                <a:solidFill>
                  <a:srgbClr val="1E293B"/>
                </a:solidFill>
                <a:latin typeface="Arial"/>
              </a:rPr>
              <a:t>mớ âm thanh trộn lẫn</a:t>
            </a:r>
            <a:r>
              <a:rPr sz="1600" b="0">
                <a:solidFill>
                  <a:srgbClr val="1E293B"/>
                </a:solidFill>
                <a:latin typeface="Arial"/>
              </a:rPr>
              <a:t>. Thuật toán </a:t>
            </a:r>
            <a:r>
              <a:rPr sz="1600" b="1">
                <a:solidFill>
                  <a:srgbClr val="2563EB"/>
                </a:solidFill>
                <a:latin typeface="Arial"/>
              </a:rPr>
              <a:t>ICA</a:t>
            </a:r>
            <a:r>
              <a:rPr sz="1600" b="0">
                <a:solidFill>
                  <a:srgbClr val="1E293B"/>
                </a:solidFill>
                <a:latin typeface="Arial"/>
              </a:rPr>
              <a:t> tách lại từng giọng — dù không biết trước giọng ai (blind source separation).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286000" cy="118872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Giọng A / B /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39" y="269748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377440"/>
            <a:ext cx="2286000" cy="118872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TRỘN
(micro)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269748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377440"/>
            <a:ext cx="2286000" cy="118872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ICA
gỡ trộn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69748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2377440"/>
            <a:ext cx="2286000" cy="118872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→ A / B /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77639"/>
            <a:ext cx="10515600" cy="914400"/>
          </a:xfrm>
          <a:prstGeom prst="roundRect">
            <a:avLst/>
          </a:prstGeom>
          <a:solidFill>
            <a:srgbClr val="ECFEFF"/>
          </a:solidFill>
          <a:ln w="1587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Arial"/>
              </a:rPr>
              <a:t>3 Ý CẦN NHỚ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(1) nhiều nguồn </a:t>
            </a:r>
            <a:r>
              <a:rPr sz="1400" b="1">
                <a:solidFill>
                  <a:srgbClr val="1E293B"/>
                </a:solidFill>
                <a:latin typeface="Arial"/>
              </a:rPr>
              <a:t>độc lập</a:t>
            </a:r>
            <a:r>
              <a:rPr sz="1400" b="0">
                <a:solidFill>
                  <a:srgbClr val="1E293B"/>
                </a:solidFill>
                <a:latin typeface="Arial"/>
              </a:rPr>
              <a:t>; (2) cái ta quan sát là </a:t>
            </a:r>
            <a:r>
              <a:rPr sz="1400" b="1">
                <a:solidFill>
                  <a:srgbClr val="1E293B"/>
                </a:solidFill>
                <a:latin typeface="Arial"/>
              </a:rPr>
              <a:t>bản trộn</a:t>
            </a:r>
            <a:r>
              <a:rPr sz="1400" b="0">
                <a:solidFill>
                  <a:srgbClr val="1E293B"/>
                </a:solidFill>
                <a:latin typeface="Arial"/>
              </a:rPr>
              <a:t>; (3) vẫn </a:t>
            </a:r>
            <a:r>
              <a:rPr sz="1400" b="1">
                <a:solidFill>
                  <a:srgbClr val="1E293B"/>
                </a:solidFill>
                <a:latin typeface="Arial"/>
              </a:rPr>
              <a:t>gỡ ngược</a:t>
            </a:r>
            <a:r>
              <a:rPr sz="1400" b="0">
                <a:solidFill>
                  <a:srgbClr val="1E293B"/>
                </a:solidFill>
                <a:latin typeface="Arial"/>
              </a:rPr>
              <a:t> ra từng nguồn.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Văn bản cũng là một "bản trộn"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486400" cy="292608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ĐỔI GÓC NHÌN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• Một tài liệu hiếm khi nói đúng một chủ đề — nó trộn nhiều chủ đề (như phòng tiệc trộn nhiều giọng).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• Tự động tìm &amp; tách các chủ đề trong kho văn bản = topic modeling.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40680" cy="292608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Arial"/>
              </a:rPr>
              <a:t>Ý TƯỞNG CỦA S³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Coi mỗi chủ đề như một "giọng nói" → dùng đúng ICA để tách chủ đề ra khỏi văn bản.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Đó là lý do tên bài: Semantic Signal Separation — "tách tín hiệu ngữ nghĩa".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72000"/>
            <a:ext cx="11155680" cy="1097280"/>
          </a:xfrm>
          <a:prstGeom prst="roundRect">
            <a:avLst/>
          </a:prstGeom>
          <a:solidFill>
            <a:srgbClr val="FEFCE9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Arial"/>
              </a:rPr>
              <a:t>CÂU DẪN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Đổi "giọng nói" thành "chủ đề", "căn phòng" thành "một bài viết". Nếu tách được chủ đề như tách giọng nói thì sao? Đó đúng là điều S³ làm.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ICA khác PCA thế nào? (ý chính)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486400" cy="1920240"/>
          </a:xfrm>
          <a:prstGeom prst="roundRect">
            <a:avLst/>
          </a:prstGeom>
          <a:solidFill>
            <a:srgbClr val="ECFEFF"/>
          </a:solidFill>
          <a:ln w="1587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Arial"/>
              </a:rPr>
              <a:t>PCA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Tìm hướng dữ liệu trải rộng nhất; các trục chỉ cần không tương quan — điều kiện dễ. Hay dùng để nén / giảm chiều.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40680" cy="192024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Arial"/>
              </a:rPr>
              <a:t>ICA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Tìm các thành phần độc lập thống kê — điều kiện khó hơn. Nhờ đó tách được các nguồn thật sự tách bạch.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566160"/>
            <a:ext cx="11155680" cy="13716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CHỐT MỘT CÂU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"Không tương quan" chưa chắc "độc lập". Chính vì đòi độc lập mà ICA cho các chủ đề ít chồng lấn → gốc rễ khiến S³ đạt diversity gần như hoàn hảo.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(Chi tiết y=x², whitening, công thức — để dành Act 3.)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FDBFE"/>
                </a:solidFill>
                <a:latin typeface="Arial"/>
              </a:rPr>
              <a:t>ACT 2 · ĐỘNG LỰC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Động lực &amp; Bối cảnh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0"/>
            <a:ext cx="9418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E0F2FE"/>
                </a:solidFill>
                <a:latin typeface="Arial"/>
              </a:rPr>
              <a:t>Vì sao cần S³ — và so với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Topic model là gì?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1155680" cy="118872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ĐỊNH NGHĨA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Nhóm phương pháp thống kê, unsupervised (không cần nhãn) tự khám phá chủ đề ẩn trong kho văn bản lớn. Mỗi topic = một tập từ khoá đại diện.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5486400" cy="128016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Arial"/>
              </a:rPr>
              <a:t>Topic thể thao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bóng đá · cầu thủ · bàn thắng · HLV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743200"/>
            <a:ext cx="5440680" cy="128016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Arial"/>
              </a:rPr>
              <a:t>Topic công nghệ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AI · chip · dữ liệu · phần mềm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297680"/>
            <a:ext cx="11155680" cy="1097280"/>
          </a:xfrm>
          <a:prstGeom prst="roundRect">
            <a:avLst/>
          </a:prstGeom>
          <a:solidFill>
            <a:srgbClr val="FEFCE9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Arial"/>
              </a:rPr>
              <a:t>CÂU DẪN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Có 100.000 bài báo, muốn biết chúng nói về gì mà không đọc hết — topic model trả về vài chục nhóm từ khoá đại diện.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Cách cổ điển: đếm từ (Bag-of-Words)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LSA (1988), LDA (2003) đều dựa trên bag-of-words: đếm tần suất từ, bỏ thứ tự &amp; ngữ cảnh.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11155680" cy="228600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3 GIỚI HẠN CỦA BoW (kẻ thù S³ muốn đánh bại)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1. Nhạy với stop words ("the, of, và, là") → topic vô nghĩa nếu không làm sạch.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2. Preprocessing tạo nhiều "bậc tự do cho nhà nghiên cứu" → khó tái lập.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3. BoW thưa &amp; số chiều cao → tính kém, khớp kém.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480560"/>
            <a:ext cx="11155680" cy="914400"/>
          </a:xfrm>
          <a:prstGeom prst="roundRect">
            <a:avLst/>
          </a:prstGeom>
          <a:solidFill>
            <a:srgbClr val="FEFCE9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Arial"/>
              </a:rPr>
              <a:t>CÂU DẪN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Đếm từ thì "the, is, of" luôn nhiều nhất, nên buộc phải làm sạch rất kỹ — và mỗi người làm một kiểu.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Embeddings mở cơ hội — nhưng vẫn vướng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486400" cy="274320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Arial"/>
              </a:rPr>
              <a:t>EMBEDDING GIÚP GÌ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• Có ngữ cảnh → không cần vứt bỏ thông tin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• Bền lỗi chính tả &amp; từ lạ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• Không gian liên tục → giả định Gaussian, cho transfer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40680" cy="274320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CONTEXTUAL MODEL HIỆN TẠI VẪN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• Chậm, không ổn định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• Vẫn cần preprocessing nặng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• Không rõ có thật sự dùng ngữ cảnh — vì vẫn test trên dữ liệu đã làm sạch!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89120"/>
            <a:ext cx="11155680" cy="1005840"/>
          </a:xfrm>
          <a:prstGeom prst="roundRect">
            <a:avLst/>
          </a:prstGeom>
          <a:solidFill>
            <a:srgbClr val="FEFCE9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Arial"/>
              </a:rPr>
              <a:t>CÂU DẪN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Arial"/>
              </a:rPr>
              <a:t>Ba vấn đề bên phải chính là thứ S³ giải quyết.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Bối cảnh: các baseline để so sánh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493776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Nhóm</a:t>
                      </a:r>
                    </a:p>
                  </a:txBody>
                  <a:tcPr marL="73152" marT="18288" marB="18288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Mô hình</a:t>
                      </a:r>
                    </a:p>
                  </a:txBody>
                  <a:tcPr marL="73152" marT="18288" marB="18288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Cơ chế cốt lõi</a:t>
                      </a:r>
                    </a:p>
                  </a:txBody>
                  <a:tcPr marL="73152" marT="18288" marB="18288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Contextual?</a:t>
                      </a:r>
                    </a:p>
                  </a:txBody>
                  <a:tcPr marL="73152" marT="18288" marB="18288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Classical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LDA / NMF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Xác suất / phân rã trên BoW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Không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Neural/VAE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ZeroShotTM, CombinedTM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VAE trên embedding (+BoW)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Neural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ECRTM / FASTopic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Clustering reg. / Optimal transport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Không / Có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Clustering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Top2Vec / BERTopic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UMAP + HDBSCAN + (cosine / c-TF-IDF)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Đề xuất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S³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ICA trên embedding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846320"/>
            <a:ext cx="11155680" cy="9144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CHỈ CẦN NHỚ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3 trường phái cũ: đếm từ, mạng nơ-ron, gom cụm. S³ đi hướng thứ tư — phân rã ma trận trên embedding.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Cú lật: topic = trục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66160" cy="10972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BERTopic/Top2Vec → topic = cụm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371600"/>
            <a:ext cx="3566160" cy="10972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LDA/CTM → topic = phân phối xác suất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371600"/>
            <a:ext cx="3657600" cy="109728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Arial"/>
              </a:rPr>
              <a:t>S³ → topic = TRỤC ngữ nghĩa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43200"/>
            <a:ext cx="11155680" cy="22860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TRỰC GIÁC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Mỗi topic là một hướng giải thích phần biến thiên riêng của kho. Phân rã thành: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• A = các topic (latent components)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• S = độ mạnh mỗi topic trong từng tài liệu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Dùng ICA để các trục độc lập.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FDBFE"/>
                </a:solidFill>
                <a:latin typeface="Arial"/>
              </a:rPr>
              <a:t>ACT 3 · THUẬT TOÁN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Thuật toán S³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0"/>
            <a:ext cx="9418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E0F2FE"/>
                </a:solidFill>
                <a:latin typeface="Arial"/>
              </a:rPr>
              <a:t>6 bước · whitening · word importance · từ negative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Thuật toán S³ — 6 bước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11155680" cy="868680"/>
          </a:xfrm>
          <a:prstGeom prst="roundRect">
            <a:avLst/>
          </a:prstGeom>
          <a:solidFill>
            <a:srgbClr val="ECFEFF"/>
          </a:solidFill>
          <a:ln w="1587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Arial"/>
              </a:rPr>
              <a:t>CỐT LÕI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93B"/>
                </a:solidFill>
                <a:latin typeface="Arial"/>
              </a:rPr>
              <a:t>Toàn bộ phần "khó" chỉ là một phép phân rã ma trận:  tài liệu = topic × độ mạnh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10515600" cy="566928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1. Encode tài liệu → ma trận 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35808"/>
            <a:ext cx="10515600" cy="566928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2. FastICA: X = A·S  (A = topic, S = document-topic importance)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94176"/>
            <a:ext cx="10515600" cy="566928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3. Encode từ vựng bằng cùng encoder → 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52544"/>
            <a:ext cx="10515600" cy="566928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4. Unmixing: C = A⁺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10912"/>
            <a:ext cx="10515600" cy="566928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5. Chiếu từ: W = V·Cᵀ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669279"/>
            <a:ext cx="10515600" cy="566928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6. Tính word importance cho từng topic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Chi tiết 1–2: phân rã + whitening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Arial"/>
              </a:rPr>
              <a:t>X = A·S  bằng FastICA.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383280" cy="118872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①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Arial"/>
              </a:rPr>
              <a:t>Gốc: elip nghiêng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2011680"/>
            <a:ext cx="3383280" cy="118872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Arial"/>
              </a:rPr>
              <a:t>②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Arial"/>
              </a:rPr>
              <a:t>Whitened: cầu, var=1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011680"/>
            <a:ext cx="3383280" cy="1188720"/>
          </a:xfrm>
          <a:prstGeom prst="roundRect">
            <a:avLst/>
          </a:prstGeom>
          <a:solidFill>
            <a:srgbClr val="ECFEFF"/>
          </a:solidFill>
          <a:ln w="1587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Arial"/>
              </a:rPr>
              <a:t>③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Arial"/>
              </a:rPr>
              <a:t>ICA xoay về trục độc lập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66160"/>
            <a:ext cx="11155680" cy="182880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PCA và ICA phối hợp (trả bài Act 1)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FastICA là mô hình noiseless → phải whitening trước (dùng PCA). Ngay đó S³ giảm chiều còn N (giữ N principal components đầu). Rồi ICA mới xoay cho độc lập.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→ PCA dọn dẹp, ICA tách. S³ KHÔNG chỉ là PCA.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Chi tiết 3–5: chiếu từ lên trục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0515600" cy="566928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3. Encode từ vựng → 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29968"/>
            <a:ext cx="10515600" cy="566928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4. Unmixing matrix: C = A⁺  (pseudo-inverse của 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88336"/>
            <a:ext cx="10515600" cy="566928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5. Chiếu từ: W = V·Cᵀ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20440"/>
            <a:ext cx="11155680" cy="9144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Ý NGHĨA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Wⱼₜ = vị trí của từ j trên trục topic t → "toạ độ" để chọn từ mô tả topic.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572000"/>
            <a:ext cx="11155680" cy="914400"/>
          </a:xfrm>
          <a:prstGeom prst="roundRect">
            <a:avLst/>
          </a:prstGeom>
          <a:solidFill>
            <a:srgbClr val="ECFEFF"/>
          </a:solidFill>
          <a:ln w="1587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Arial"/>
              </a:rPr>
              <a:t>INFERENCE tài liệu mới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Chỉ một phép nhân ma trận: Ŝ = X̂·Cᵀ — cực nhanh.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Bước 6: word importance (Figure 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3</a:t>
            </a:r>
          </a:p>
        </p:txBody>
      </p:sp>
      <p:pic>
        <p:nvPicPr>
          <p:cNvPr id="4" name="Picture 3" descr="fig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190224" cy="2743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06640" y="1371600"/>
            <a:ext cx="4251960" cy="2743200"/>
          </a:xfrm>
          <a:prstGeom prst="roundRect">
            <a:avLst/>
          </a:prstGeom>
          <a:solidFill>
            <a:srgbClr val="ECFEFF"/>
          </a:solidFill>
          <a:ln w="1587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Arial"/>
              </a:rPr>
              <a:t>ĐỌC HÌNH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Arial"/>
              </a:rPr>
              <a:t>vₜ = hình chiếu của từ lên trục topic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Arial"/>
              </a:rPr>
              <a:t>‖v‖ = độ dài vector từ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Arial"/>
              </a:rPr>
              <a:t>Θ = góc giữa v và trục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43400"/>
            <a:ext cx="3566160" cy="1371600"/>
          </a:xfrm>
          <a:prstGeom prst="roundRect">
            <a:avLst/>
          </a:prstGeom>
          <a:solidFill>
            <a:srgbClr val="ECFEFF"/>
          </a:solidFill>
          <a:ln w="1587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Arial"/>
              </a:rPr>
              <a:t>① AXIAL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βₜⱼ = Wⱼₜ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Từ nổi bật nhất. Coherence cao nhất.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4343400"/>
            <a:ext cx="3566160" cy="1371600"/>
          </a:xfrm>
          <a:prstGeom prst="roundRect">
            <a:avLst/>
          </a:prstGeom>
          <a:solidFill>
            <a:srgbClr val="ECFEFF"/>
          </a:solidFill>
          <a:ln w="1587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Arial"/>
              </a:rPr>
              <a:t>② ANGULAR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βₜⱼ = Wⱼₜ / ‖Wⱼ‖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Từ đặc trưng nhất. Diversity cao nhất.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343400"/>
            <a:ext cx="3611880" cy="137160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Arial"/>
              </a:rPr>
              <a:t>③ COMBINED (mặc định)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βₜⱼ = (Wⱼₜ)³ / ‖Wⱼ‖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Mũ lẻ để giữ dấu. Cân bằng ①②.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Điểm độc đáo: mô tả bằng từ NEGATIVE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1155680" cy="13716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TRỰC GIÁC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Cả 3 công thức cho phép từ có độ quan trọng âm → ngoài "top từ dương", S³ liệt kê cả top từ âm = một định nghĩa âm của topic.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rial"/>
              </a:rPr>
              <a:t>•  LSA cũng có tính chất này về toán, nhưng chưa từng được khai thác.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rial"/>
              </a:rPr>
              <a:t>•  Lợi ích: hai topic có từ-dương giống nhau vẫn phân biệt được nhờ từ âm.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rial"/>
              </a:rPr>
              <a:t>•  So sánh định lượng bỏ qua từ âm (để công bằng); từ âm chỉ dùng minh hoạ định tính.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846320"/>
            <a:ext cx="11155680" cy="914400"/>
          </a:xfrm>
          <a:prstGeom prst="roundRect">
            <a:avLst/>
          </a:prstGeom>
          <a:solidFill>
            <a:srgbClr val="FEFCE9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Arial"/>
              </a:rPr>
              <a:t>CÂU DẪN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Không mô hình nào khác cho biết một topic KHÔNG nói về cái gì — S³ thì có.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FDBFE"/>
                </a:solidFill>
                <a:latin typeface="Arial"/>
              </a:rPr>
              <a:t>ACT 4 · CHỐT HẠ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Thí nghiệm &amp;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0"/>
            <a:ext cx="9418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E0F2FE"/>
                </a:solidFill>
                <a:latin typeface="Arial"/>
              </a:rPr>
              <a:t>Setup · con số · hồi quy · preprocessing · định tính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Thiết lập thí nghiệm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28800"/>
                <a:gridCol w="1463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marL="73152" marT="18288" marB="18288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#Tài liệu</a:t>
                      </a:r>
                    </a:p>
                  </a:txBody>
                  <a:tcPr marL="73152" marT="18288" marB="18288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Vocab</a:t>
                      </a:r>
                    </a:p>
                  </a:txBody>
                  <a:tcPr marL="73152" marT="18288" marB="18288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ArXiv ML / BBC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2.048 / 1.225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2.849 / 3.851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20NG Preprocessed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16.310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1.612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20NG Raw (thô)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18.846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21.668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StackExchange / Wiki Med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75.000 / 6.861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17.884 / 22.145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32320" y="1280160"/>
            <a:ext cx="4526280" cy="22860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THIẾT KẾ TINH TẾ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Arial"/>
              </a:rPr>
              <a:t>Dùng cả 20NG thô lẫn đã làm sạch để đo riêng ảnh hưởng preprocessing. 4 embeddings (GloVe→E5), topic 10–50, không tune hyperparameter, chạy 1 lần.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931920"/>
            <a:ext cx="11155680" cy="155448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Arial"/>
              </a:rPr>
              <a:t>ĐO CHẤT LƯỢNG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Diversity (d): topic khác nhau đến đâu · Coherence (C): topic mạch lạc đến đâu.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C̄ = √(C_ex · C_in) ;  Interpretability = √(C̄ · d)  — dùng geometric mean để phạt lệch, buộc tốt cả hai mặt.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Kết quả: các con số biết nói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474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2563EB"/>
                </a:solidFill>
                <a:latin typeface="Arial"/>
              </a:rPr>
              <a:t>4.5×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nhanh hơn á quân BERTopic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54480"/>
            <a:ext cx="3474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2563EB"/>
                </a:solidFill>
                <a:latin typeface="Arial"/>
              </a:rPr>
              <a:t>27.5×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69748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nhanh hơn baselines (TB)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59" y="1554480"/>
            <a:ext cx="3474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2563EB"/>
                </a:solidFill>
                <a:latin typeface="Arial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269748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hiệu năng tổng hợp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11155680" cy="201168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Arial"/>
              </a:rPr>
              <a:t>CÂN BẰNG TỐI ƯU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• ECRTM, FASTopic: đa dạng hơn nhưng kém mạch lạc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• Top2Vec: rất mạch lạc nhưng kém đa dạng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6A34A"/>
                </a:solidFill>
                <a:latin typeface="Arial"/>
              </a:rPr>
              <a:t>• S³: cân bằng tối ưu coherence ↔ diversity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Kiểm định thống kê (rất mạnh)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11155680" cy="77724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F = 167.4 · p &lt; 0.001 · R² = 0.673  → S³ vượt trội có ý nghĩa thống kê so với mọi baseline.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286000"/>
          <a:ext cx="11155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377440"/>
                <a:gridCol w="3200400"/>
                <a:gridCol w="23774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Mô hình</a:t>
                      </a:r>
                    </a:p>
                  </a:txBody>
                  <a:tcPr marL="73152" marT="18288" marB="18288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Hệ số</a:t>
                      </a:r>
                    </a:p>
                  </a:txBody>
                  <a:tcPr marL="73152" marT="18288" marB="18288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Mô hình</a:t>
                      </a:r>
                    </a:p>
                  </a:txBody>
                  <a:tcPr marL="73152" marT="18288" marB="18288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Hệ số</a:t>
                      </a:r>
                    </a:p>
                  </a:txBody>
                  <a:tcPr marL="73152" marT="18288" marB="18288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S³_com (mốc)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0.606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ZeroShotTM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−0.117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ECRTM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−0.031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CombinedTM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−0.120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FASTopic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−0.043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BERTopic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−0.214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Top2Vec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−0.046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NMF / LDA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  <a:latin typeface="Arial"/>
                        </a:rPr>
                        <a:t>−0.222 / −0.272</a:t>
                      </a:r>
                    </a:p>
                  </a:txBody>
                  <a:tcPr marL="73152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1206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Càng âm = càng kém S³. 3 biến thể S³ đứng đầu; LDA/NMF/BERTopic ở đáy.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Phát hiện phản trực giác nhất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1155680" cy="109728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293B"/>
                </a:solidFill>
                <a:latin typeface="Arial"/>
              </a:rPr>
              <a:t>S³ là mô hình DUY NHẤT liên tục chạy TỐT HƠN trên văn bản thô so với dữ liệu đã tiền xử lý.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rial"/>
              </a:rPr>
              <a:t>•  Baseline nhìn chung ngang hoặc kém đi khi bỏ preprocessing.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rial"/>
              </a:rPr>
              <a:t>•  S³ hưởng lợi nhiều nhất → thật sự khai thác thông tin thêm trong văn bản thô.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rial"/>
              </a:rPr>
              <a:t>•  Trên kho thô, S³ cao hơn TẤT CẢ — kể cả mô hình train trên dữ liệu đã làm sạch.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846320"/>
            <a:ext cx="11155680" cy="1005840"/>
          </a:xfrm>
          <a:prstGeom prst="roundRect">
            <a:avLst/>
          </a:prstGeom>
          <a:solidFill>
            <a:srgbClr val="FEFCE9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Arial"/>
              </a:rPr>
              <a:t>CÂU DẪN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Mọi mô hình khác cần bạn làm sạch dữ liệu; S³ ngược lại — càng để nguyên càng tốt. Bằng chứng nó thật sự dùng ngữ cảnh.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Định tính + Concept Compass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11155680" cy="82296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KÉM — LDA, BERTopic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Arial"/>
              </a:rPr>
              <a:t>that · to · you · of · the · and   (toàn function words)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1155680" cy="82296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Arial"/>
              </a:rPr>
              <a:t>TỐT NHẤT — Top2Vec &amp; S³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Arial"/>
              </a:rPr>
              <a:t>epilepsy · medical · toxins · homeopathy   (S³ — y khoa)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200400"/>
            <a:ext cx="11155680" cy="237744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CONCEPT COMPASS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Đặt 2 trục lên mặt phẳng 2D → "bản đồ ngữ nghĩa" để đặt bất kỳ từ nào lên và xem nó nằm đâu giữa các trục.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Topic 0 &amp; 4 có từ dương giống nhau (đều "clustering") — chỉ từ ÂM mới phân biệt được.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→ S³ không chỉ liệt kê topic — nó cho một bản đồ ngữ nghĩa. Thứ mà mô hình cụm/xác suất không làm được.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Kết luận &amp; Hạn chế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96596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66160" cy="146304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Arial"/>
              </a:rPr>
              <a:t>Chất lượng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Mạch lạc + đa dạng, sạch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371600"/>
            <a:ext cx="3566160" cy="146304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Arial"/>
              </a:rPr>
              <a:t>Tốc độ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Nhanh nhất trong contextual TM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371600"/>
            <a:ext cx="3657600" cy="146304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A34A"/>
                </a:solidFill>
                <a:latin typeface="Arial"/>
              </a:rPr>
              <a:t>Không preprocessing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Chạy tốt hơn trên text thô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08960"/>
            <a:ext cx="11155680" cy="1463040"/>
          </a:xfrm>
          <a:prstGeom prst="roundRect">
            <a:avLst/>
          </a:prstGeom>
          <a:solidFill>
            <a:srgbClr val="ECFEFF"/>
          </a:solidFill>
          <a:ln w="1587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Arial"/>
              </a:rPr>
              <a:t>HẠN CHẾ (khách quan)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Arial"/>
              </a:rPr>
              <a:t>Metric có giả định mạnh · baseline được cài lại (CTM lệch nhỏ) · không tune hyperparameter · chỉ 1 seed · preprocessing thử trên 1 kho.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54880"/>
            <a:ext cx="11155680" cy="9144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ĐỌNG LẠI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Arial"/>
              </a:rPr>
              <a:t>Phương pháp đơn giản, theory-driven + thư viện Turftopic (MIT).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Cảm ơn &amp;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E0F2FE"/>
                </a:solidFill>
                <a:latin typeface="Arial"/>
              </a:rPr>
              <a:t>pip install turftopic  →  SemanticSignalSeparation(n_components=10)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BFDBFE"/>
                </a:solidFill>
                <a:latin typeface="Arial"/>
              </a:rPr>
              <a:t>S³ — Semantic Signal Separation · ACL 2025 · Aarhus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