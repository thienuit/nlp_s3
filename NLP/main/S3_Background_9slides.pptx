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6384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Quá trình phát triển Topic Modeling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777240"/>
          </a:xfrm>
          <a:prstGeom prst="roundRect">
            <a:avLst>
              <a:gd name="adj" fmla="val 11765"/>
            </a:avLst>
          </a:prstGeom>
          <a:solidFill>
            <a:srgbClr val="64748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554480" y="1234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Bag-of-Words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0" y="15727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LSA (1988) · LDA (2003)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2148840"/>
            <a:ext cx="6400800" cy="777240"/>
          </a:xfrm>
          <a:prstGeom prst="roundRect">
            <a:avLst>
              <a:gd name="adj" fmla="val 11765"/>
            </a:avLst>
          </a:prstGeom>
          <a:solidFill>
            <a:srgbClr val="0891B2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54480" y="21945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2194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Embedding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25328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· SBERT (~2019)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71600" y="3108960"/>
            <a:ext cx="6400800" cy="777240"/>
          </a:xfrm>
          <a:prstGeom prst="roundRect">
            <a:avLst>
              <a:gd name="adj" fmla="val 11765"/>
            </a:avLst>
          </a:prstGeom>
          <a:solidFill>
            <a:srgbClr val="F9731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54480" y="3154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3154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/ Clustering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00400" y="34930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CTM · BERTopic · Top2Vec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71600" y="4069080"/>
            <a:ext cx="6400800" cy="777240"/>
          </a:xfrm>
          <a:prstGeom prst="roundRect">
            <a:avLst>
              <a:gd name="adj" fmla="val 11765"/>
            </a:avLst>
          </a:prstGeom>
          <a:solidFill>
            <a:srgbClr val="22D3E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554480" y="4114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4114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S³ (2025)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00400" y="44531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 trên Embedding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06240" y="19202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06240" y="28803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206240" y="38404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1: Bag-of-Words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diễn văn bản bằng cách đếm từ — bỏ ngữ pháp và thứ tự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5029200" cy="133502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mèo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đuổi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chuột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sợ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d₁: "mèo đuổi chuột"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d₂: "chó đuổi mèo"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d₃: "chuột sợ mèo"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852160" y="1280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yếu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85216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217920" y="1691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Mất ngữ cảnh hoàn toàn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852160" y="20574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17920" y="2057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phân biệt nghĩa (đa nghĩa)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52160" y="24231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217920" y="2423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trận rất thưa (sparse)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52160" y="27889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217920" y="2788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 buộc tiền xử lý nặng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38328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22960" y="3474720"/>
            <a:ext cx="76809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</a:t>
            </a: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</a:t>
            </a: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yếu</a:t>
            </a: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</a:t>
            </a: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</a:t>
            </a: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</a:t>
            </a: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tảng</a:t>
            </a: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</a:t>
            </a: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nhất</a:t>
            </a: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lúc</a:t>
            </a: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</a:t>
            </a: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topic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tiên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(LSA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LDA)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đều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trận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đếm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LSA (1988) &amp; LDA (2003)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nhánh riêng biệt — cùng xây trên nền Bag-of-Words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2468880"/>
          </a:xfrm>
          <a:prstGeom prst="roundRect">
            <a:avLst>
              <a:gd name="adj" fmla="val 4444"/>
            </a:avLst>
          </a:prstGeom>
          <a:solidFill>
            <a:srgbClr val="F0F9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LSA — Đại số tuyến tính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tưởng: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nén ma trận đếm từ xuống K chiều → mỗi chiều = 1 topic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cụ: SVD phân tách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(đếm từ)</a:t>
            </a: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(tài liệu×topic)</a:t>
            </a: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Σ · </a:t>
            </a: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Vᵀ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(từ×topic)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yếu: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chỉ cho trục trực giao (uncorrelated) — 1 trục có thể lẫn nhiều chủ đề. Input vẫn BoW.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234440"/>
            <a:ext cx="4114800" cy="2468880"/>
          </a:xfrm>
          <a:prstGeom prst="roundRect">
            <a:avLst>
              <a:gd name="adj" fmla="val 4444"/>
            </a:avLst>
          </a:prstGeom>
          <a:solidFill>
            <a:srgbClr val="FFF7ED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1325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— Thống kê xác suất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73736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tưởng: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sinh — mô tả cách tài liệu "được sinh ra", rồi suy ngược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phân phối chủ đề (Dirichlet) → Sinh từng từ theo chủ đề → Suy luận ngược (Bayes)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yếu: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 định Dirichlet có thể sai, nhạy hyperparameter (α, β), Bayes tốn thời gian. Input vẫn BoW.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88620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S³ sẽ kế thừa tinh thần LSA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phân tách ma trận tuyến tính, chỉ đổi input + thuật toán (slide 8)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388620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39319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Cả hai bị giới hạn bởi BoW. Cần thay đổi cách biểu diễn văn bản.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2: Contextual Embedding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"đếm từ" sang "hiểu nghĩa" — BERT (2018), SBERT (2019)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4678520"/>
              </p:ext>
            </p:extLst>
          </p:nvPr>
        </p:nvGraphicFramePr>
        <p:xfrm>
          <a:off x="548640" y="1234440"/>
          <a:ext cx="80467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Bag-of-Words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 Embedding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Kích thước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|V| (hàng chục nghìn)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 err="1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Cố</a:t>
                      </a: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định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Thưa / Dày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Rất thưa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Dày đặc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Hiểu ngữ cảnh?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Hiểu ngữ pháp?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Cần tiền xử lý?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Bắt buộc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bắt buộc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548640" y="333756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3401568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learning: </a:t>
            </a:r>
            <a:r>
              <a:rPr lang="en-US" sz="1200" dirty="0"/>
              <a:t>model embedding </a:t>
            </a:r>
            <a:r>
              <a:rPr lang="en-US" sz="1200" dirty="0" err="1"/>
              <a:t>đã</a:t>
            </a:r>
            <a:r>
              <a:rPr lang="en-US" sz="1200" dirty="0"/>
              <a:t> </a:t>
            </a:r>
            <a:r>
              <a:rPr lang="en-US" sz="1200" dirty="0" err="1"/>
              <a:t>được</a:t>
            </a:r>
            <a:r>
              <a:rPr lang="en-US" sz="1200" dirty="0"/>
              <a:t> </a:t>
            </a:r>
            <a:r>
              <a:rPr lang="en-US" sz="1200" dirty="0" err="1"/>
              <a:t>huấn</a:t>
            </a:r>
            <a:r>
              <a:rPr lang="en-US" sz="1200" dirty="0"/>
              <a:t> </a:t>
            </a:r>
            <a:r>
              <a:rPr lang="en-US" sz="1200" dirty="0" err="1"/>
              <a:t>luyện</a:t>
            </a:r>
            <a:r>
              <a:rPr lang="en-US" sz="1200" dirty="0"/>
              <a:t> </a:t>
            </a:r>
            <a:r>
              <a:rPr lang="en-US" sz="1200" dirty="0" err="1"/>
              <a:t>sẵn</a:t>
            </a:r>
            <a:r>
              <a:rPr lang="en-US" sz="1200" dirty="0"/>
              <a:t> </a:t>
            </a:r>
            <a:r>
              <a:rPr lang="en-US" sz="1200" dirty="0" err="1"/>
              <a:t>trên</a:t>
            </a:r>
            <a:r>
              <a:rPr lang="en-US" sz="1200" dirty="0"/>
              <a:t> </a:t>
            </a:r>
            <a:r>
              <a:rPr lang="en-US" sz="1200" dirty="0" err="1"/>
              <a:t>hàng</a:t>
            </a:r>
            <a:r>
              <a:rPr lang="en-US" sz="1200" dirty="0"/>
              <a:t> </a:t>
            </a:r>
            <a:r>
              <a:rPr lang="en-US" sz="1200" dirty="0" err="1"/>
              <a:t>tỷ</a:t>
            </a:r>
            <a:r>
              <a:rPr lang="en-US" sz="1200" dirty="0"/>
              <a:t> </a:t>
            </a:r>
            <a:r>
              <a:rPr lang="en-US" sz="1200" dirty="0" err="1"/>
              <a:t>câu</a:t>
            </a:r>
            <a:r>
              <a:rPr lang="en-US" sz="1200" dirty="0"/>
              <a:t> — </a:t>
            </a:r>
            <a:r>
              <a:rPr lang="en-US" sz="1200" dirty="0" err="1"/>
              <a:t>mang</a:t>
            </a:r>
            <a:r>
              <a:rPr lang="en-US" sz="1200" dirty="0"/>
              <a:t> </a:t>
            </a:r>
            <a:r>
              <a:rPr lang="en-US" sz="1200" dirty="0" err="1"/>
              <a:t>về</a:t>
            </a:r>
            <a:r>
              <a:rPr lang="en-US" sz="1200" dirty="0"/>
              <a:t> </a:t>
            </a:r>
            <a:r>
              <a:rPr lang="en-US" sz="1200" dirty="0" err="1"/>
              <a:t>dùng</a:t>
            </a:r>
            <a:r>
              <a:rPr lang="en-US" sz="1200" dirty="0"/>
              <a:t> </a:t>
            </a:r>
            <a:r>
              <a:rPr lang="en-US" sz="1200" dirty="0" err="1"/>
              <a:t>trên</a:t>
            </a:r>
            <a:r>
              <a:rPr lang="en-US" sz="1200" dirty="0"/>
              <a:t> corpus </a:t>
            </a:r>
            <a:r>
              <a:rPr lang="en-US" sz="1200" dirty="0" err="1"/>
              <a:t>riêng</a:t>
            </a:r>
            <a:r>
              <a:rPr lang="en-US" sz="1200" dirty="0"/>
              <a:t> </a:t>
            </a:r>
            <a:r>
              <a:rPr lang="en-US" sz="1200" dirty="0" err="1"/>
              <a:t>là</a:t>
            </a:r>
            <a:r>
              <a:rPr lang="en-US" sz="1200" dirty="0"/>
              <a:t> </a:t>
            </a:r>
            <a:r>
              <a:rPr lang="en-US" sz="1200" dirty="0" err="1"/>
              <a:t>dùng</a:t>
            </a:r>
            <a:r>
              <a:rPr lang="en-US" sz="1200" dirty="0"/>
              <a:t> </a:t>
            </a:r>
            <a:r>
              <a:rPr lang="en-US" sz="1200" dirty="0" err="1"/>
              <a:t>được</a:t>
            </a:r>
            <a:r>
              <a:rPr lang="en-US" sz="1200" dirty="0"/>
              <a:t> </a:t>
            </a:r>
            <a:r>
              <a:rPr lang="en-US" sz="1200" dirty="0" err="1"/>
              <a:t>ngay</a:t>
            </a:r>
            <a:r>
              <a:rPr lang="en-US" sz="1200" dirty="0"/>
              <a:t>, </a:t>
            </a:r>
            <a:r>
              <a:rPr lang="en-US" sz="1200" dirty="0" err="1"/>
              <a:t>không</a:t>
            </a:r>
            <a:r>
              <a:rPr lang="en-US" sz="1200" dirty="0"/>
              <a:t> </a:t>
            </a:r>
            <a:r>
              <a:rPr lang="en-US" sz="1200" dirty="0" err="1"/>
              <a:t>cần</a:t>
            </a:r>
            <a:r>
              <a:rPr lang="en-US" sz="1200" dirty="0"/>
              <a:t> </a:t>
            </a:r>
            <a:r>
              <a:rPr lang="en-US" sz="1200" dirty="0" err="1"/>
              <a:t>dữ</a:t>
            </a:r>
            <a:r>
              <a:rPr lang="en-US" sz="1200" dirty="0"/>
              <a:t> </a:t>
            </a:r>
            <a:r>
              <a:rPr lang="en-US" sz="1200" dirty="0" err="1"/>
              <a:t>liệu</a:t>
            </a:r>
            <a:r>
              <a:rPr lang="en-US" sz="1200" dirty="0"/>
              <a:t> </a:t>
            </a:r>
            <a:r>
              <a:rPr lang="en-US" sz="1200" dirty="0" err="1"/>
              <a:t>lớn</a:t>
            </a:r>
            <a:r>
              <a:rPr lang="en-US" sz="1200" dirty="0"/>
              <a:t> </a:t>
            </a:r>
            <a:r>
              <a:rPr lang="en-US" sz="1200" dirty="0" err="1"/>
              <a:t>để</a:t>
            </a:r>
            <a:r>
              <a:rPr lang="en-US" sz="1200" dirty="0"/>
              <a:t> </a:t>
            </a:r>
            <a:r>
              <a:rPr lang="en-US" sz="1200" dirty="0" err="1"/>
              <a:t>bắt</a:t>
            </a:r>
            <a:r>
              <a:rPr lang="en-US" sz="1200" dirty="0"/>
              <a:t> </a:t>
            </a:r>
            <a:r>
              <a:rPr lang="en-US" sz="1200" dirty="0" err="1"/>
              <a:t>đầu</a:t>
            </a:r>
            <a:r>
              <a:rPr lang="en-US" sz="1200" dirty="0"/>
              <a:t>.</a:t>
            </a:r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0F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42062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chỉ là biểu diễn — chưa tìm topic. </a:t>
            </a: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embedding để tìm topic bằng cách nào? → 2 nhánh: Neural vs Clustering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3: Neural vs Clustering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0891B2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Nhánh Neural — "Học" bằng mạng nơ-ron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73736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VAE: encoder nén embedding → decoder tái tạo Bag-of-Words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6642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Topic: "145, ax, 0d, _o, a86, mk..."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ECRTM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37360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 + Sinkhorn (1000 lặp) — chậm nhất, không dùng contextual embedding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4871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Topic: "verbeek, billington, cassels..."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FASTopic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37360" y="3017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transport — gộp nhầm topic, kém khi embedding lớn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3101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Topic: "moon, bike, car, orbit..."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822960"/>
            <a:ext cx="4114800" cy="3200400"/>
          </a:xfrm>
          <a:prstGeom prst="roundRect">
            <a:avLst>
              <a:gd name="adj" fmla="val 3429"/>
            </a:avLst>
          </a:prstGeom>
          <a:solidFill>
            <a:srgbClr val="F97316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914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Nhánh Clustering — Bài toán hình học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137160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UMAP → HDBSCAN → Từ khóa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Top2Vec: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với tâm cụm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BERTopic: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c-TF-IDF (quay lại đếm từ!)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Thất bại thực tế: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BERTopic: 1 cụm toàn stopword</a:t>
            </a:r>
            <a:endParaRPr lang="en-US" sz="12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"the, of, to, in, space, it, edu, is..."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Stopword chiếm tới 100% mô tả topic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Top2Vec: chỉ 2 cụm cho cả corpus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8321040" cy="777240"/>
          </a:xfrm>
          <a:prstGeom prst="roundRect">
            <a:avLst>
              <a:gd name="adj" fmla="val 9412"/>
            </a:avLst>
          </a:prstGeom>
          <a:solidFill>
            <a:srgbClr val="DC262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420624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yếu chung: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Chậm (50-200 epoch / UMAP+HDBSCAN)   ② Nhạy hyperparameter   ③ Nhiều model vẫn quay lại đếm từ ở đâu đó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Clustering: Pipeline &amp; Điểm yếu hệ thống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0515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→ ~5 chiều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(giữ cấu trúc gần/xa)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1752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91840" y="1051560"/>
            <a:ext cx="365760" cy="36576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49040" y="10515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14630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tìm vùng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mật độ cao = cụm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943600" y="96012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35040" y="105156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3504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10515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khóa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80760" y="14630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Top2Vec: cosine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BERTopic: c-TF-IDF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yếu hệ thống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2788920"/>
            <a:ext cx="8321040" cy="5486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94360" y="280720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28072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Quá nhiều tham số, không biết chọn sao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63440" y="28072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 (3) + HDBSCAN (2) = 5-6 tham số, không có hướng dẫn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429000"/>
            <a:ext cx="8321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4360" y="344728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34472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topic nổ lên không kiểm soát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63440" y="34472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 tự học → có thể hàng trăm cụm → cần thêm bước gộp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069080"/>
            <a:ext cx="8321040" cy="5486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94360" y="408736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0120" y="40873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cụm sai → không cứu được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663440" y="40873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Gán từ khóa chạy SAU cluster → lỗi chảy xuôi, không có cơ chế sửa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Thách thức chung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 Neural lẫn Clustering đều gặp — khoảng trống mà S³ nhắm vào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1005840"/>
          </a:xfrm>
          <a:prstGeom prst="roundRect">
            <a:avLst>
              <a:gd name="adj" fmla="val 9091"/>
            </a:avLst>
          </a:prstGeom>
          <a:solidFill>
            <a:srgbClr val="DC262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502920" cy="50292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325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Nhạy hyperparameter, khó tái lập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64592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Neural: learning rate, epochs, kiến trúc mạng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Clustering: tham số UMAP + HDBSCAN + topic reduction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Chưa có hướng dẫn chọn tối ưu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7680960" cy="1005840"/>
          </a:xfrm>
          <a:prstGeom prst="roundRect">
            <a:avLst>
              <a:gd name="adj" fmla="val 9091"/>
            </a:avLst>
          </a:prstGeom>
          <a:solidFill>
            <a:srgbClr val="F9731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14400" y="2560320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45920" y="25146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Vẫn phụ thuộc tiền xử lý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" y="28346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mô hình vẫn phụ thuộc BoW/TF-IDF: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CTM: decoder BoW  |  BERTopic: c-TF-IDF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"Cửa ngõ" cho vấn đề tiền xử lý vẫn tồn tại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657600"/>
            <a:ext cx="7680960" cy="1005840"/>
          </a:xfrm>
          <a:prstGeom prst="roundRect">
            <a:avLst>
              <a:gd name="adj" fmla="val 9091"/>
            </a:avLst>
          </a:prstGeom>
          <a:solidFill>
            <a:srgbClr val="A855F7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3749040"/>
            <a:ext cx="502920" cy="502920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45920" y="3703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rõ tận dụng context thật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45920" y="402336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Hầu hết đánh giá trên corpus ĐÃ tiền xử lý sẵn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Tốt vì "hiểu context" hay vì "dữ liệu đã sạch"?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Chưa ai so sánh corpus thô vs đã xử lý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S³ — Hậu duệ contextual của LSA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tảng: trục ngữ nghĩa đã được khám phá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4572000" cy="10210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Nghiên cứu trước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Mục tiêu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Trục phổ quát (universal)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Trục đặc thù corpus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model?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— chỉ chứng minh trục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 — sinh từ khóa + đánh giá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303520" y="777240"/>
            <a:ext cx="347472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0" y="841248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LSA: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đếm từ + SVD → trục trực giao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S³: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+ ICA → trục độc lập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2011680"/>
            <a:ext cx="8321040" cy="1463040"/>
          </a:xfrm>
          <a:prstGeom prst="roundRect">
            <a:avLst>
              <a:gd name="adj" fmla="val 6250"/>
            </a:avLst>
          </a:prstGeom>
          <a:solidFill>
            <a:srgbClr val="F0F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20848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ICA thay SVD?</a:t>
            </a:r>
            <a:endParaRPr lang="en-US" sz="1600" dirty="0"/>
          </a:p>
        </p:txBody>
      </p:sp>
      <p:sp>
        <p:nvSpPr>
          <p:cNvPr id="4" name="Text 6"/>
          <p:cNvSpPr/>
          <p:nvPr/>
        </p:nvSpPr>
        <p:spPr>
          <a:xfrm>
            <a:off x="640080" y="2423160"/>
            <a:ext cx="7955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SVD/PCA: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trực giao (uncorrelated) — điều kiện yếu. 1 trục có thể lẫn nhiều chủ đề.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độc lập thống kê (independent) — điều kiện mạnh hơn. Biết trục A → không suy ra được gì về trục B.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Trực giác: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Cocktail party — 3 micro thu hỗn hợp giọng → ICA tách từng giọng. Tài liệu = hỗn hợp topic → ICA tách topic.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3703320"/>
            <a:ext cx="8321040" cy="502920"/>
          </a:xfrm>
          <a:prstGeom prst="roundRect">
            <a:avLst>
              <a:gd name="adj" fmla="val 14545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0080" y="37490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nguyên văn: </a:t>
            </a: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"Our approach can, in some aspects, be considered the contextual successor of Latent Semantic Analysis"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4343400"/>
            <a:ext cx="8321040" cy="548640"/>
          </a:xfrm>
          <a:prstGeom prst="roundRect">
            <a:avLst>
              <a:gd name="adj" fmla="val 13333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438912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góp S³: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biến kỹ thuật tìm trục ngữ nghĩa (đã chứng minh) thành topic model đầy đủ — trục đặc thù corpus + sinh từ khóa + đánh giá định lượng.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S³ giải quyết 3 thách thức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299008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Thách thức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/ Clustering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Nhạy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Nhiều tham số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có hướng dẫn rõ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FastICA dùng default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 — gần như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cần tinh chỉnh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Cần tiền xử lý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Quay lại đếm từ/TF-IDF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ở đâu đó trong 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có bước đếm từ nào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Cả ICA lẫn gán từ khóa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đều thuần embedding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Chưa rõ tận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dụng context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Đánh giá trên corpus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đã tiền xử lý sẵn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Hưởng lợi nhiều nhất khi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bỏ tiền xử lý — hiệu suất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corpus thô &gt; baseline có TXL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39776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22960" y="40233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mấu chốt: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S³ loại bỏ hoàn toàn mọi bước đếm từ/TF-IDF khỏi toàn bộ pipeline — cả tìm topic (ICA) lẫn gán từ khóa (chiếu embedding lên trục). Đây là sự khác biệt căn bản nhất so với mọi model trước đó.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1375</Words>
  <Application>Microsoft Office PowerPoint</Application>
  <PresentationFormat>On-screen Show (16:9)</PresentationFormat>
  <Paragraphs>207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S³ — Semantic Signal Separation — Background</dc:title>
  <dc:subject>PptxGenJS Presentation</dc:subject>
  <dc:creator>Hau Dinh</dc:creator>
  <cp:lastModifiedBy>Hau Dinh</cp:lastModifiedBy>
  <cp:revision>6</cp:revision>
  <dcterms:created xsi:type="dcterms:W3CDTF">2026-07-07T18:23:01Z</dcterms:created>
  <dcterms:modified xsi:type="dcterms:W3CDTF">2026-07-08T09:52:13Z</dcterms:modified>
</cp:coreProperties>
</file>